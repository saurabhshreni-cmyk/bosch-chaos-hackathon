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1695" cy="6858000" type="wide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AI-Driven Chaos Engineering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Cloud-native resilience demo using Pitstop, Docker Compose, Ollama and a live dashboard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pic>
        <p:nvPicPr>
          <p:cNvPr id="7" name="pitstop-garage.png"/>
          <p:cNvPicPr>
            <a:picLocks noChangeAspect="1"/>
          </p:cNvPicPr>
          <p:nvPr/>
        </p:nvPicPr>
        <p:blipFill>
          <a:blip r:embed="rId2"/>
          <a:srcRect l="26974" r="26974"/>
          <a:stretch>
            <a:fillRect/>
          </a:stretch>
        </p:blipFill>
        <p:spPr>
          <a:xfrm>
            <a:off x="7589520" y="822960"/>
            <a:ext cx="4023360" cy="5394960"/>
          </a:xfrm>
          <a:prstGeom prst="rect">
            <a:avLst/>
          </a:prstGeom>
        </p:spPr>
      </p:pic>
      <p:sp>
        <p:nvSpPr>
          <p:cNvPr id="8" name="Shape 8"/>
          <p:cNvSpPr txBox="1"/>
          <p:nvPr/>
        </p:nvSpPr>
        <p:spPr>
          <a:xfrm>
            <a:off x="594360" y="1325880"/>
            <a:ext cx="1920240" cy="384048"/>
          </a:xfrm>
          <a:prstGeom prst="roundRect">
            <a:avLst/>
          </a:prstGeom>
          <a:solidFill>
            <a:srgbClr val="008c95"/>
          </a:solidFill>
          <a:ln>
            <a:solidFill>
              <a:srgbClr val="008c95"/>
            </a:solidFill>
          </a:ln>
        </p:spPr>
        <p:txBody>
          <a:bodyPr wrap="square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Team No. 28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594360" y="1828800"/>
            <a:ext cx="6217920" cy="7315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300" b="1">
                <a:solidFill>
                  <a:srgbClr val="263238"/>
                </a:solidFill>
              </a:rPr>
              <a:t>Build an AI system that introduces controlled local failures, observes impact, verifies recovery and reports ranked findings.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85800" y="2834640"/>
            <a:ext cx="5669280" cy="20116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Sandbox only: no production systems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Model: qwen2.5:1.5b via local Ollama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Application: Pitstop microservices garage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Problem Statement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What the challenge asked us to build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94360" y="1234440"/>
            <a:ext cx="3566160" cy="420624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Shape 8"/>
          <p:cNvSpPr txBox="1"/>
          <p:nvPr/>
        </p:nvSpPr>
        <p:spPr>
          <a:xfrm>
            <a:off x="758952" y="1362456"/>
            <a:ext cx="323697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Team solution should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58952" y="1737360"/>
            <a:ext cx="3236976" cy="360273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Select and map a cloud-native sample app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Plan failures intelligently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Inject controlled failures with safety limits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Observe errors, slowdowns and recovery time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Analyze and report ranked weaknesses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434840" y="1234440"/>
            <a:ext cx="3383280" cy="4206240"/>
          </a:xfrm>
          <a:prstGeom prst="roundRect">
            <a:avLst/>
          </a:prstGeom>
          <a:solidFill>
            <a:srgbClr val="fff6fa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599431" y="1362456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Accepted failure types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599431" y="1737360"/>
            <a:ext cx="3054096" cy="360273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Service/container crash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Slow or lossy network responses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Failed shared dependency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Traffic spike / combined scenario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092440" y="1234440"/>
            <a:ext cx="3383280" cy="420624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257031" y="1362456"/>
            <a:ext cx="305409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Out of scope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57031" y="1737360"/>
            <a:ext cx="3054096" cy="3602735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Production or shared infrastructure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Unbounded destructive faults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Unverified model-generated commands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Claims of write durability without tests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Day-1 Baseline And Safety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Foundation before running AI-selected experiments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85800" y="1234440"/>
            <a:ext cx="4937760" cy="43891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Pitstop running end-to-end in Docker Compose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Mapped services, dependencies and data flows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Captured baseline latency and health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Implemented manual STOP and automatic rollback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Verified no arbitrary model shell commands</a:t>
            </a:r>
          </a:p>
        </p:txBody>
      </p:sp>
      <p:pic>
        <p:nvPicPr>
          <p:cNvPr id="8" name="dependency-map.png"/>
          <p:cNvPicPr>
            <a:picLocks noChangeAspect="1"/>
          </p:cNvPicPr>
          <p:nvPr/>
        </p:nvPicPr>
        <p:blipFill>
          <a:blip r:embed="rId2"/>
          <a:srcRect l="18669" r="18669"/>
          <a:stretch>
            <a:fillRect/>
          </a:stretch>
        </p:blipFill>
        <p:spPr>
          <a:xfrm>
            <a:off x="5897880" y="1143000"/>
            <a:ext cx="5760720" cy="4114800"/>
          </a:xfrm>
          <a:prstGeom prst="rect">
            <a:avLst/>
          </a:prstGeom>
        </p:spPr>
      </p:pic>
      <p:sp>
        <p:nvSpPr>
          <p:cNvPr id="9" name="Shape 9"/>
          <p:cNvSpPr txBox="1"/>
          <p:nvPr/>
        </p:nvSpPr>
        <p:spPr>
          <a:xfrm>
            <a:off x="5989320" y="5486400"/>
            <a:ext cx="4389120" cy="384048"/>
          </a:xfrm>
          <a:prstGeom prst="roundRect">
            <a:avLst/>
          </a:prstGeom>
          <a:solidFill>
            <a:srgbClr val="008c95"/>
          </a:solidFill>
          <a:ln>
            <a:solidFill>
              <a:srgbClr val="008c95"/>
            </a:solidFill>
          </a:ln>
        </p:spPr>
        <p:txBody>
          <a:bodyPr wrap="square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Day-1 minimum: running app + dependency map + safe failure + kill switch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Solution Architecture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AI planning is separated from deterministic execution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pic>
        <p:nvPicPr>
          <p:cNvPr id="7" name="architecture-preview.png"/>
          <p:cNvPicPr>
            <a:picLocks noChangeAspect="1"/>
          </p:cNvPicPr>
          <p:nvPr/>
        </p:nvPicPr>
        <p:blipFill>
          <a:blip r:embed="rId2"/>
          <a:srcRect l="14858" r="14858"/>
          <a:stretch>
            <a:fillRect/>
          </a:stretch>
        </p:blipFill>
        <p:spPr>
          <a:xfrm>
            <a:off x="502920" y="960120"/>
            <a:ext cx="5577840" cy="5257800"/>
          </a:xfrm>
          <a:prstGeom prst="rect">
            <a:avLst/>
          </a:prstGeom>
        </p:spPr>
      </p:pic>
      <p:sp>
        <p:nvSpPr>
          <p:cNvPr id="8" name="Shape 8"/>
          <p:cNvSpPr txBox="1"/>
          <p:nvPr/>
        </p:nvSpPr>
        <p:spPr>
          <a:xfrm>
            <a:off x="6400800" y="1005840"/>
            <a:ext cx="4937760" cy="123444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Shape 9"/>
          <p:cNvSpPr txBox="1"/>
          <p:nvPr/>
        </p:nvSpPr>
        <p:spPr>
          <a:xfrm>
            <a:off x="6565392" y="1133856"/>
            <a:ext cx="460857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Planner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565392" y="1508760"/>
            <a:ext cx="4608576" cy="6309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Ranks registered experiments from dependency map, baseline and discovery evidence.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400800" y="2468880"/>
            <a:ext cx="4937760" cy="1234440"/>
          </a:xfrm>
          <a:prstGeom prst="roundRect">
            <a:avLst/>
          </a:prstGeom>
          <a:solidFill>
            <a:srgbClr val="fff6fa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565392" y="2596896"/>
            <a:ext cx="460857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Injection worker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565392" y="2971800"/>
            <a:ext cx="4608576" cy="6309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Runs only code-owned, bounded tools; one fault at a time; rollback watchdog active.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400800" y="3931920"/>
            <a:ext cx="4937760" cy="123444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565392" y="4059935"/>
            <a:ext cx="460857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Detection + recommendation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565392" y="4434840"/>
            <a:ext cx="4608576" cy="6309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Measures availability/latency and produces evidence-linked findings with caveats.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AI Agent Workflow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From healthy baseline to ranked recommendations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94360" y="1143000"/>
            <a:ext cx="3657600" cy="45720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Stage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4251960" y="1143000"/>
            <a:ext cx="3657600" cy="45720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What happens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7909560" y="1143000"/>
            <a:ext cx="3657600" cy="45720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Safety gate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594360" y="16002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Baseline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251960" y="16002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Probe Customer, Vehicle, Workshop pages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7909560" y="16002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Unhealthy baseline blocks injection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594360" y="20574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Plan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4251960" y="20574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AI ranks allowed experiment catalog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7909560" y="20574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Schema + ID validation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594360" y="25146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Inject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4251960" y="25146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Crash or delay selected target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7909560" y="25146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Duration + blast-radius thresholds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94360" y="29718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Recover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4251960" y="29718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Restore target and verify pages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7909560" y="2971800"/>
            <a:ext cx="36576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All three module pages must recover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594360" y="34290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Analyze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4251960" y="34290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Rank anomalies and recommend fixes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7909560" y="3429000"/>
            <a:ext cx="3657600" cy="45720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Evidence only; no root-cause certainty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914400" y="4343400"/>
            <a:ext cx="10058400" cy="128016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The AI chooses among registered experiments; it never invents a target or command.</a:t>
            </a:r>
          </a:p>
          <a:p>
            <a:pPr marL="285750" indent="-171450">
              <a:buChar char="•"/>
            </a:pPr>
            <a:r>
              <a:rPr lang="en-US" sz="1700">
                <a:solidFill>
                  <a:srgbClr val="263238"/>
                </a:solidFill>
              </a:rPr>
              <a:t>Reports retain model caveats when explanations are uncertain.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Experiments Executed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Three required scenarios plus a combined stretch scenario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502920" y="1051560"/>
            <a:ext cx="2800350" cy="59436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Experiment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303270" y="1051560"/>
            <a:ext cx="2800350" cy="59436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Fault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103620" y="1051560"/>
            <a:ext cx="2800350" cy="59436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Observed impact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903970" y="1051560"/>
            <a:ext cx="2800350" cy="59436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Recovery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502920" y="1645919"/>
            <a:ext cx="2800350" cy="5943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workshop-crash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303270" y="1645919"/>
            <a:ext cx="2800350" cy="5943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Workshop API crash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103620" y="1645919"/>
            <a:ext cx="2800350" cy="5943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Workshop offline; Customer/Vehicle stable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903970" y="1645919"/>
            <a:ext cx="2800350" cy="5943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0.74 sec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502920" y="224028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database-crash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303270" y="224028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SQL dependency outage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103620" y="224028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Two modules impacted; safety rollback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903970" y="224028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30.29 sec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502920" y="2834640"/>
            <a:ext cx="2800350" cy="5943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workshop-delay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303270" y="2834640"/>
            <a:ext cx="2800350" cy="5943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500 ms network delay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103620" y="2834640"/>
            <a:ext cx="2800350" cy="5943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Workshop latency / timeouts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903970" y="2834640"/>
            <a:ext cx="2800350" cy="5943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1.07 sec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502920" y="342900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crash + traffic</a:t>
            </a:r>
          </a:p>
        </p:txBody>
      </p:sp>
      <p:sp>
        <p:nvSpPr>
          <p:cNvPr id="24" name="Shape 24"/>
          <p:cNvSpPr txBox="1"/>
          <p:nvPr/>
        </p:nvSpPr>
        <p:spPr>
          <a:xfrm>
            <a:off x="3303270" y="342900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Workshop crash under read load</a:t>
            </a:r>
          </a:p>
        </p:txBody>
      </p:sp>
      <p:sp>
        <p:nvSpPr>
          <p:cNvPr id="25" name="Shape 25"/>
          <p:cNvSpPr txBox="1"/>
          <p:nvPr/>
        </p:nvSpPr>
        <p:spPr>
          <a:xfrm>
            <a:off x="6103620" y="342900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Combined failure stretch</a:t>
            </a:r>
          </a:p>
        </p:txBody>
      </p:sp>
      <p:sp>
        <p:nvSpPr>
          <p:cNvPr id="26" name="Shape 26"/>
          <p:cNvSpPr txBox="1"/>
          <p:nvPr/>
        </p:nvSpPr>
        <p:spPr>
          <a:xfrm>
            <a:off x="8903970" y="3429000"/>
            <a:ext cx="2800350" cy="5943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4.55 sec</a:t>
            </a:r>
          </a:p>
        </p:txBody>
      </p:sp>
      <p:sp>
        <p:nvSpPr>
          <p:cNvPr id="27" name="Shape 27"/>
          <p:cNvSpPr txBox="1"/>
          <p:nvPr/>
        </p:nvSpPr>
        <p:spPr>
          <a:xfrm>
            <a:off x="731520" y="4389120"/>
            <a:ext cx="5120640" cy="123444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28" name="Shape 28"/>
          <p:cNvSpPr txBox="1"/>
          <p:nvPr/>
        </p:nvSpPr>
        <p:spPr>
          <a:xfrm>
            <a:off x="896112" y="4517136"/>
            <a:ext cx="4791455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What this proves</a:t>
            </a:r>
          </a:p>
        </p:txBody>
      </p:sp>
      <p:sp>
        <p:nvSpPr>
          <p:cNvPr id="29" name="Shape 29"/>
          <p:cNvSpPr txBox="1"/>
          <p:nvPr/>
        </p:nvSpPr>
        <p:spPr>
          <a:xfrm>
            <a:off x="896112" y="4892040"/>
            <a:ext cx="4791455" cy="6309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Controlled faults, measured degradation, automatic restoration and recorded evidence.</a:t>
            </a:r>
          </a:p>
        </p:txBody>
      </p:sp>
      <p:sp>
        <p:nvSpPr>
          <p:cNvPr id="30" name="Shape 30"/>
          <p:cNvSpPr txBox="1"/>
          <p:nvPr/>
        </p:nvSpPr>
        <p:spPr>
          <a:xfrm>
            <a:off x="6217920" y="4389120"/>
            <a:ext cx="5120640" cy="1234440"/>
          </a:xfrm>
          <a:prstGeom prst="roundRect">
            <a:avLst/>
          </a:prstGeom>
          <a:solidFill>
            <a:srgbClr val="fff6fa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1" name="Shape 31"/>
          <p:cNvSpPr txBox="1"/>
          <p:nvPr/>
        </p:nvSpPr>
        <p:spPr>
          <a:xfrm>
            <a:off x="6382512" y="4517136"/>
            <a:ext cx="4791455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What we do not claim</a:t>
            </a:r>
          </a:p>
        </p:txBody>
      </p:sp>
      <p:sp>
        <p:nvSpPr>
          <p:cNvPr id="32" name="Shape 32"/>
          <p:cNvSpPr txBox="1"/>
          <p:nvPr/>
        </p:nvSpPr>
        <p:spPr>
          <a:xfrm>
            <a:off x="6382512" y="4892040"/>
            <a:ext cx="4791455" cy="6309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Read probes do not prove write correctness or message durability.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Live Dashboard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Operator view for experiments, monitor, topology and evidence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pic>
        <p:nvPicPr>
          <p:cNvPr id="7" name="live-failure-dashboard.png"/>
          <p:cNvPicPr>
            <a:picLocks noChangeAspect="1"/>
          </p:cNvPicPr>
          <p:nvPr/>
        </p:nvPicPr>
        <p:blipFill>
          <a:blip r:embed="rId2"/>
          <a:srcRect t="42358" b="42358"/>
          <a:stretch>
            <a:fillRect/>
          </a:stretch>
        </p:blipFill>
        <p:spPr>
          <a:xfrm>
            <a:off x="502920" y="960120"/>
            <a:ext cx="5715000" cy="4572000"/>
          </a:xfrm>
          <a:prstGeom prst="rect">
            <a:avLst/>
          </a:prstGeom>
        </p:spPr>
      </p:pic>
      <p:sp>
        <p:nvSpPr>
          <p:cNvPr id="8" name="Shape 8"/>
          <p:cNvSpPr txBox="1"/>
          <p:nvPr/>
        </p:nvSpPr>
        <p:spPr>
          <a:xfrm>
            <a:off x="6537960" y="1188720"/>
            <a:ext cx="4937760" cy="292608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Agent lifecycle and worker status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Live module health probes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Failure monitor with incident-specific AI recommendations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3D topology and dependency map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Downloadable evidence and findings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583680" y="4754880"/>
            <a:ext cx="4480560" cy="384048"/>
          </a:xfrm>
          <a:prstGeom prst="roundRect">
            <a:avLst/>
          </a:prstGeom>
          <a:solidFill>
            <a:srgbClr val="008c95"/>
          </a:solidFill>
          <a:ln>
            <a:solidFill>
              <a:srgbClr val="008c95"/>
            </a:solidFill>
          </a:ln>
        </p:spPr>
        <p:txBody>
          <a:bodyPr wrap="square"/>
          <a:lstStyle/>
          <a:p>
            <a:pPr algn="ctr"/>
            <a:r>
              <a:rPr lang="en-US" sz="1200" b="1">
                <a:solidFill>
                  <a:srgbClr val="ffffff"/>
                </a:solidFill>
              </a:rPr>
              <a:t>Stretch goal: live dashboard / simple UI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Findings And Scores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AI-ranked findings grounded in measured evidence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40080" y="1143000"/>
            <a:ext cx="3429000" cy="4251960"/>
          </a:xfrm>
          <a:prstGeom prst="roundRect">
            <a:avLst/>
          </a:prstGeom>
          <a:solidFill>
            <a:srgbClr val="fff6fa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8" name="Shape 8"/>
          <p:cNvSpPr txBox="1"/>
          <p:nvPr/>
        </p:nvSpPr>
        <p:spPr>
          <a:xfrm>
            <a:off x="804671" y="1271016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High severity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804671" y="1645920"/>
            <a:ext cx="3099816" cy="3648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Workshop crash caused repeated Workshop page failures.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SQL outage affected multiple modules.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Workshop delay produced severe latency/availability anomalies.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4343400" y="1143000"/>
            <a:ext cx="3429000" cy="425196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4507992" y="1271016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Recommended fixes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4507992" y="1645920"/>
            <a:ext cx="3099816" cy="3648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Inspect service logs and dependency errors.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Use bounded timeouts and safer fallback behavior.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Rerun matched experiments after changes.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8046720" y="1143000"/>
            <a:ext cx="3429000" cy="425196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211312" y="1271016"/>
            <a:ext cx="3099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Score method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8211312" y="1645920"/>
            <a:ext cx="3099816" cy="364845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Transparent read-probe heuristic, not an SLA.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Recovery and healthy fault probes improve score.</a:t>
            </a:r>
          </a:p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Unequal sampling is reported, not hidden.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Applied Fix And Retest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Timeout/fallback behavior improved responsiveness, with a reported tradeoff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640080" y="1143000"/>
            <a:ext cx="2720340" cy="49149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Module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3360420" y="1143000"/>
            <a:ext cx="2720340" cy="49149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Before p95</a:t>
            </a:r>
          </a:p>
        </p:txBody>
      </p:sp>
      <p:sp>
        <p:nvSpPr>
          <p:cNvPr id="9" name="Shape 9"/>
          <p:cNvSpPr txBox="1"/>
          <p:nvPr/>
        </p:nvSpPr>
        <p:spPr>
          <a:xfrm>
            <a:off x="6080760" y="1143000"/>
            <a:ext cx="2720340" cy="49149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After p95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8801100" y="1143000"/>
            <a:ext cx="2720340" cy="49149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Interpretation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40080" y="1634490"/>
            <a:ext cx="2720340" cy="49149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Customer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3360420" y="1634490"/>
            <a:ext cx="2720340" cy="49149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5044 ms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080760" y="1634490"/>
            <a:ext cx="2720340" cy="49149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165 ms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8801100" y="1634490"/>
            <a:ext cx="2720340" cy="49149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Faster fallback path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40080" y="2125980"/>
            <a:ext cx="2720340" cy="49149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Vehicle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3360420" y="2125980"/>
            <a:ext cx="2720340" cy="49149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23 ms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080760" y="2125980"/>
            <a:ext cx="2720340" cy="49149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113 ms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8801100" y="2125980"/>
            <a:ext cx="2720340" cy="49149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Stable reads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40080" y="2617470"/>
            <a:ext cx="2720340" cy="49149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Workshop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3360420" y="2617470"/>
            <a:ext cx="2720340" cy="49149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4555 ms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080760" y="2617470"/>
            <a:ext cx="2720340" cy="49149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2064 ms</a:t>
            </a:r>
          </a:p>
        </p:txBody>
      </p:sp>
      <p:sp>
        <p:nvSpPr>
          <p:cNvPr id="22" name="Shape 22"/>
          <p:cNvSpPr txBox="1"/>
          <p:nvPr/>
        </p:nvSpPr>
        <p:spPr>
          <a:xfrm>
            <a:off x="8801100" y="2617470"/>
            <a:ext cx="2720340" cy="49149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Fails fast under delay</a:t>
            </a:r>
          </a:p>
        </p:txBody>
      </p:sp>
      <p:sp>
        <p:nvSpPr>
          <p:cNvPr id="23" name="Shape 23"/>
          <p:cNvSpPr txBox="1"/>
          <p:nvPr/>
        </p:nvSpPr>
        <p:spPr>
          <a:xfrm>
            <a:off x="822960" y="3657600"/>
            <a:ext cx="10515600" cy="1463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We do not present the fix as universally better: it improves responsiveness while exposing an availability tradeoff.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This is a matched retest, not a statistical proof.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Demo And Deliverables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All required submission materials prepared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pic>
        <p:nvPicPr>
          <p:cNvPr id="7" name="demo-frame-1.png"/>
          <p:cNvPicPr>
            <a:picLocks noChangeAspect="1"/>
          </p:cNvPicPr>
          <p:nvPr/>
        </p:nvPicPr>
        <p:blipFill>
          <a:blip r:embed="rId2"/>
          <a:srcRect l="2059" r="2059"/>
          <a:stretch>
            <a:fillRect/>
          </a:stretch>
        </p:blipFill>
        <p:spPr>
          <a:xfrm>
            <a:off x="594360" y="960120"/>
            <a:ext cx="3429000" cy="2011680"/>
          </a:xfrm>
          <a:prstGeom prst="rect">
            <a:avLst/>
          </a:prstGeom>
        </p:spPr>
      </p:pic>
      <p:pic>
        <p:nvPicPr>
          <p:cNvPr id="8" name="demo-frame-2.png"/>
          <p:cNvPicPr>
            <a:picLocks noChangeAspect="1"/>
          </p:cNvPicPr>
          <p:nvPr/>
        </p:nvPicPr>
        <p:blipFill>
          <a:blip r:embed="rId3"/>
          <a:srcRect l="2059" r="2059"/>
          <a:stretch>
            <a:fillRect/>
          </a:stretch>
        </p:blipFill>
        <p:spPr>
          <a:xfrm>
            <a:off x="4434840" y="960120"/>
            <a:ext cx="3429000" cy="2011680"/>
          </a:xfrm>
          <a:prstGeom prst="rect">
            <a:avLst/>
          </a:prstGeom>
        </p:spPr>
      </p:pic>
      <p:pic>
        <p:nvPicPr>
          <p:cNvPr id="9" name="demo-frame-3.png"/>
          <p:cNvPicPr>
            <a:picLocks noChangeAspect="1"/>
          </p:cNvPicPr>
          <p:nvPr/>
        </p:nvPicPr>
        <p:blipFill>
          <a:blip r:embed="rId4"/>
          <a:srcRect l="2059" r="2059"/>
          <a:stretch>
            <a:fillRect/>
          </a:stretch>
        </p:blipFill>
        <p:spPr>
          <a:xfrm>
            <a:off x="8275320" y="960120"/>
            <a:ext cx="3429000" cy="2011680"/>
          </a:xfrm>
          <a:prstGeom prst="rect">
            <a:avLst/>
          </a:prstGeom>
        </p:spPr>
      </p:pic>
      <p:sp>
        <p:nvSpPr>
          <p:cNvPr id="10" name="Shape 10"/>
          <p:cNvSpPr txBox="1"/>
          <p:nvPr/>
        </p:nvSpPr>
        <p:spPr>
          <a:xfrm>
            <a:off x="685800" y="3520440"/>
            <a:ext cx="5394960" cy="32766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Deliverable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080760" y="3520440"/>
            <a:ext cx="5394960" cy="327660"/>
          </a:xfrm>
          <a:prstGeom prst="rect">
            <a:avLst/>
          </a:prstGeom>
          <a:solidFill>
            <a:srgbClr val="d0005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 b="1">
                <a:solidFill>
                  <a:srgbClr val="ffffff"/>
                </a:solidFill>
              </a:rPr>
              <a:t>File</a:t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85800" y="3848099"/>
            <a:ext cx="5394960" cy="3276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Source code + README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080760" y="3848099"/>
            <a:ext cx="5394960" cy="3276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GitHub branch / README.md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85800" y="4175760"/>
            <a:ext cx="5394960" cy="3276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Demo video</a:t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080760" y="4175760"/>
            <a:ext cx="5394960" cy="3276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submission/demo.webm (88.4 sec)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85800" y="4503420"/>
            <a:ext cx="5394960" cy="3276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Architecture overview</a:t>
            </a:r>
          </a:p>
        </p:txBody>
      </p:sp>
      <p:sp>
        <p:nvSpPr>
          <p:cNvPr id="17" name="Shape 17"/>
          <p:cNvSpPr txBox="1"/>
          <p:nvPr/>
        </p:nvSpPr>
        <p:spPr>
          <a:xfrm>
            <a:off x="6080760" y="4503420"/>
            <a:ext cx="5394960" cy="3276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submission/architecture.pdf</a:t>
            </a:r>
          </a:p>
        </p:txBody>
      </p:sp>
      <p:sp>
        <p:nvSpPr>
          <p:cNvPr id="18" name="Shape 18"/>
          <p:cNvSpPr txBox="1"/>
          <p:nvPr/>
        </p:nvSpPr>
        <p:spPr>
          <a:xfrm>
            <a:off x="685800" y="4831080"/>
            <a:ext cx="5394960" cy="3276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Findings report</a:t>
            </a:r>
          </a:p>
        </p:txBody>
      </p:sp>
      <p:sp>
        <p:nvSpPr>
          <p:cNvPr id="19" name="Shape 19"/>
          <p:cNvSpPr txBox="1"/>
          <p:nvPr/>
        </p:nvSpPr>
        <p:spPr>
          <a:xfrm>
            <a:off x="6080760" y="4831080"/>
            <a:ext cx="5394960" cy="327660"/>
          </a:xfrm>
          <a:prstGeom prst="rect">
            <a:avLst/>
          </a:prstGeom>
          <a:solidFill>
            <a:srgbClr val="ffffff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submission/findings.md</a:t>
            </a:r>
          </a:p>
        </p:txBody>
      </p:sp>
      <p:sp>
        <p:nvSpPr>
          <p:cNvPr id="20" name="Shape 20"/>
          <p:cNvSpPr txBox="1"/>
          <p:nvPr/>
        </p:nvSpPr>
        <p:spPr>
          <a:xfrm>
            <a:off x="685800" y="5158740"/>
            <a:ext cx="5394960" cy="3276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Team form</a:t>
            </a:r>
          </a:p>
        </p:txBody>
      </p:sp>
      <p:sp>
        <p:nvSpPr>
          <p:cNvPr id="21" name="Shape 21"/>
          <p:cNvSpPr txBox="1"/>
          <p:nvPr/>
        </p:nvSpPr>
        <p:spPr>
          <a:xfrm>
            <a:off x="6080760" y="5158740"/>
            <a:ext cx="5394960" cy="327660"/>
          </a:xfrm>
          <a:prstGeom prst="rect">
            <a:avLst/>
          </a:prstGeom>
          <a:solidFill>
            <a:srgbClr val="f5f9fb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100">
                <a:solidFill>
                  <a:srgbClr val="263238"/>
                </a:solidFill>
              </a:rPr>
              <a:t>submission/team-form.json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3" name="Shape 3"/>
          <p:cNvSpPr txBox="1"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0005f"/>
          </a:solidFill>
          <a:ln>
            <a:noFill/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4" name="Shape 4"/>
          <p:cNvSpPr txBox="1"/>
          <p:nvPr/>
        </p:nvSpPr>
        <p:spPr>
          <a:xfrm>
            <a:off x="411480" y="274320"/>
            <a:ext cx="8138160" cy="5029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2700" b="1">
                <a:solidFill>
                  <a:srgbClr val="d0005f"/>
                </a:solidFill>
              </a:rPr>
              <a:t>Final Demo Flow</a:t>
            </a:r>
          </a:p>
        </p:txBody>
      </p:sp>
      <p:sp>
        <p:nvSpPr>
          <p:cNvPr id="5" name="Shape 5"/>
          <p:cNvSpPr txBox="1"/>
          <p:nvPr/>
        </p:nvSpPr>
        <p:spPr>
          <a:xfrm>
            <a:off x="438912" y="786384"/>
            <a:ext cx="8686800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300">
                <a:solidFill>
                  <a:srgbClr val="4b5963"/>
                </a:solidFill>
              </a:rPr>
              <a:t>What we will show the instructor</a:t>
            </a:r>
          </a:p>
        </p:txBody>
      </p:sp>
      <p:sp>
        <p:nvSpPr>
          <p:cNvPr id="6" name="Shape 6"/>
          <p:cNvSpPr txBox="1"/>
          <p:nvPr/>
        </p:nvSpPr>
        <p:spPr>
          <a:xfrm>
            <a:off x="10561320" y="320040"/>
            <a:ext cx="1005840" cy="256032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r"/>
            <a:r>
              <a:rPr lang="en-US" sz="1000" b="1">
                <a:solidFill>
                  <a:srgbClr val="008c95"/>
                </a:solidFill>
              </a:rPr>
              <a:t>TEAM 28</a:t>
            </a:r>
          </a:p>
        </p:txBody>
      </p:sp>
      <p:sp>
        <p:nvSpPr>
          <p:cNvPr id="7" name="Shape 7"/>
          <p:cNvSpPr txBox="1"/>
          <p:nvPr/>
        </p:nvSpPr>
        <p:spPr>
          <a:xfrm>
            <a:off x="731520" y="1143000"/>
            <a:ext cx="5394960" cy="438912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Open Pitstop and show Customer, Vehicle, Workshop are healthy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Open dashboard Overview and explain worker lifecycle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Show Dependencies and 3D topology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Show Evidence &amp; findings with ranked AI report</a:t>
            </a:r>
          </a:p>
          <a:p>
            <a:pPr marL="285750" indent="-171450">
              <a:buChar char="•"/>
            </a:pPr>
            <a:r>
              <a:rPr lang="en-US" sz="1800">
                <a:solidFill>
                  <a:srgbClr val="263238"/>
                </a:solidFill>
              </a:rPr>
              <a:t>Play the under-3-minute demo video</a:t>
            </a:r>
          </a:p>
        </p:txBody>
      </p:sp>
      <p:sp>
        <p:nvSpPr>
          <p:cNvPr id="8" name="Shape 8"/>
          <p:cNvSpPr txBox="1"/>
          <p:nvPr/>
        </p:nvSpPr>
        <p:spPr>
          <a:xfrm>
            <a:off x="6537960" y="1234440"/>
            <a:ext cx="4572000" cy="1234440"/>
          </a:xfrm>
          <a:prstGeom prst="roundRect">
            <a:avLst/>
          </a:prstGeom>
          <a:solidFill>
            <a:srgbClr val="fff6fa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9" name="Shape 9"/>
          <p:cNvSpPr txBox="1"/>
          <p:nvPr/>
        </p:nvSpPr>
        <p:spPr>
          <a:xfrm>
            <a:off x="6702552" y="1362456"/>
            <a:ext cx="4242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Live rerun defaults</a:t>
            </a:r>
          </a:p>
        </p:txBody>
      </p:sp>
      <p:sp>
        <p:nvSpPr>
          <p:cNvPr id="10" name="Shape 10"/>
          <p:cNvSpPr txBox="1"/>
          <p:nvPr/>
        </p:nvSpPr>
        <p:spPr>
          <a:xfrm>
            <a:off x="6702552" y="1737360"/>
            <a:ext cx="4242816" cy="6309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Use Workshop crash, Database crash and Workshop delay; keep RabbitMQ unchecked for the final live run.</a:t>
            </a:r>
          </a:p>
        </p:txBody>
      </p:sp>
      <p:sp>
        <p:nvSpPr>
          <p:cNvPr id="11" name="Shape 11"/>
          <p:cNvSpPr txBox="1"/>
          <p:nvPr/>
        </p:nvSpPr>
        <p:spPr>
          <a:xfrm>
            <a:off x="6537960" y="2834640"/>
            <a:ext cx="4572000" cy="123444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2" name="Shape 12"/>
          <p:cNvSpPr txBox="1"/>
          <p:nvPr/>
        </p:nvSpPr>
        <p:spPr>
          <a:xfrm>
            <a:off x="6702552" y="2962656"/>
            <a:ext cx="4242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Safety message</a:t>
            </a:r>
          </a:p>
        </p:txBody>
      </p:sp>
      <p:sp>
        <p:nvSpPr>
          <p:cNvPr id="13" name="Shape 13"/>
          <p:cNvSpPr txBox="1"/>
          <p:nvPr/>
        </p:nvSpPr>
        <p:spPr>
          <a:xfrm>
            <a:off x="6702552" y="3337560"/>
            <a:ext cx="4242816" cy="63093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All faults are local, bounded, reversible, and blocked by STOP / recovery gates.</a:t>
            </a:r>
          </a:p>
        </p:txBody>
      </p:sp>
      <p:sp>
        <p:nvSpPr>
          <p:cNvPr id="14" name="Shape 14"/>
          <p:cNvSpPr txBox="1"/>
          <p:nvPr/>
        </p:nvSpPr>
        <p:spPr>
          <a:xfrm>
            <a:off x="6537960" y="4434840"/>
            <a:ext cx="4572000" cy="914400"/>
          </a:xfrm>
          <a:prstGeom prst="roundRect">
            <a:avLst/>
          </a:prstGeom>
          <a:solidFill>
            <a:srgbClr val="f7fbfc"/>
          </a:solidFill>
          <a:ln>
            <a:solidFill>
              <a:srgbClr val="d7e2ea"/>
            </a:solidFill>
          </a:ln>
        </p:spPr>
        <p:txBody>
          <a:bodyPr wrap="square"/>
          <a:lstStyle/>
          <a:p>
            <a:pPr algn="l"/>
            <a:r>
              <a:rPr lang="en-US" sz="100">
                <a:solidFill>
                  <a:srgbClr val="ffffff"/>
                </a:solidFill>
              </a:rPr>
              <a:t/>
            </a:r>
          </a:p>
        </p:txBody>
      </p:sp>
      <p:sp>
        <p:nvSpPr>
          <p:cNvPr id="15" name="Shape 15"/>
          <p:cNvSpPr txBox="1"/>
          <p:nvPr/>
        </p:nvSpPr>
        <p:spPr>
          <a:xfrm>
            <a:off x="6702552" y="4562855"/>
            <a:ext cx="4242816" cy="320040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algn="l"/>
            <a:r>
              <a:rPr lang="en-US" sz="1500" b="1">
                <a:solidFill>
                  <a:srgbClr val="0b5961"/>
                </a:solidFill>
              </a:rPr>
              <a:t>Close</a:t>
            </a:r>
          </a:p>
        </p:txBody>
      </p:sp>
      <p:sp>
        <p:nvSpPr>
          <p:cNvPr id="16" name="Shape 16"/>
          <p:cNvSpPr txBox="1"/>
          <p:nvPr/>
        </p:nvSpPr>
        <p:spPr>
          <a:xfrm>
            <a:off x="6702552" y="4937759"/>
            <a:ext cx="4242816" cy="310896"/>
          </a:xfrm>
          <a:prstGeom prst="rect">
            <a:avLst/>
          </a:prstGeom>
          <a:noFill/>
          <a:ln>
            <a:noFill/>
          </a:ln>
        </p:spPr>
        <p:txBody>
          <a:bodyPr wrap="square"/>
          <a:lstStyle/>
          <a:p>
            <a:pPr marL="285750" indent="-171450">
              <a:buChar char="•"/>
            </a:pPr>
            <a:r>
              <a:rPr lang="en-US" sz="1200">
                <a:solidFill>
                  <a:srgbClr val="25323a"/>
                </a:solidFill>
              </a:rPr>
              <a:t>AI helps prioritize experiments and summarize evidence; humans still review findings.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am 28">
  <a:themeElements>
    <a:clrScheme name="Team 28">
      <a:dk1>
        <a:srgbClr val="111827"/>
      </a:dk1>
      <a:lt1>
        <a:srgbClr val="FFFFFF"/>
      </a:lt1>
      <a:dk2>
        <a:srgbClr val="263238"/>
      </a:dk2>
      <a:lt2>
        <a:srgbClr val="F7FBFC"/>
      </a:lt2>
      <a:accent1>
        <a:srgbClr val="D0005F"/>
      </a:accent1>
      <a:accent2>
        <a:srgbClr val="008C95"/>
      </a:accent2>
      <a:accent3>
        <a:srgbClr val="E2BE69"/>
      </a:accent3>
      <a:accent4>
        <a:srgbClr val="78B7F0"/>
      </a:accent4>
      <a:accent5>
        <a:srgbClr val="F17895"/>
      </a:accent5>
      <a:accent6>
        <a:srgbClr val="5B6770"/>
      </a:accent6>
      <a:hlink>
        <a:srgbClr val="008C95"/>
      </a:hlink>
      <a:folHlink>
        <a:srgbClr val="D0005F"/>
      </a:folHlink>
    </a:clrScheme>
    <a:fontScheme name="Office">
      <a:majorFont>
        <a:latin typeface="Aptos Display"/>
      </a:majorFont>
      <a:minorFont>
        <a:latin typeface="Aptos"/>
      </a:minorFont>
    </a:fontScheme>
    <a:fmtScheme name="Office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Codex</Application>
  <PresentationFormat>On-screen Show (16:9)</PresentationFormat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AI-Driven Chaos Engineering Presentation</dc:title>
  <dc:creator>Team 28</dc:creator>
  <cp:lastModifiedBy>Team 28</cp:lastModifiedBy>
  <dcterms:created xsi:type="dcterms:W3CDTF">2026-10-11T00:20:32.596970+00:00</dcterms:created>
  <dcterms:modified xsi:type="dcterms:W3CDTF">2026-10-11T00:20:32.596970+00:00</dcterms:modified>
</cp:coreProperties>
</file>